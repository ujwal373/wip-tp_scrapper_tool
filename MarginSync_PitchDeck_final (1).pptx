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embeddedFontLst>
    <p:embeddedFont>
      <p:font typeface="Arial Black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hifevqzE1qclqjBzoMy47PxO+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font" Target="fonts/ArialBlack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9999398c8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9999398c8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d9999398c8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9999398c8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d9999398c8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d9999398c8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10" Type="http://schemas.openxmlformats.org/officeDocument/2006/relationships/image" Target="../media/image9.png"/><Relationship Id="rId9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A2F5E">
              <a:alpha val="70196"/>
            </a:srgbClr>
          </a:solidFill>
          <a:ln cap="flat" cmpd="sng" w="12700">
            <a:solidFill>
              <a:srgbClr val="1A2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891B2">
              <a:alpha val="30196"/>
            </a:srgbClr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9144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REVENUE PROTECTION ENGINE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Arial Black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MarginSync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3317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Stopping the BPO Margin Bleed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2926080"/>
            <a:ext cx="3200400" cy="3657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" y="306324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real-time revenue protection and adherence engine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the global contact center industry.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Lakshay Kapur  ·  Sarthak Misal  ·  Ujwal Mojidra</a:t>
            </a:r>
            <a:endParaRPr b="1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0D1B3E"/>
                </a:solidFill>
                <a:latin typeface="Arial Black"/>
                <a:ea typeface="Arial Black"/>
                <a:cs typeface="Arial Black"/>
                <a:sym typeface="Arial Black"/>
              </a:rPr>
              <a:t>The €1M Blindspot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1280160"/>
            <a:ext cx="2468880" cy="256032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57200" y="155448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6000"/>
              <a:buFont typeface="Arial Black"/>
              <a:buNone/>
            </a:pPr>
            <a:r>
              <a:rPr b="1" i="0" lang="en-US" sz="60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10%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251460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annual revenue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leaks undetected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154680" y="1280160"/>
            <a:ext cx="182880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749040" y="1417320"/>
            <a:ext cx="640080" cy="64008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3048" y="148132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3154680" y="21488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Arial Black"/>
                <a:ea typeface="Arial Black"/>
                <a:cs typeface="Arial Black"/>
                <a:sym typeface="Arial Black"/>
              </a:rPr>
              <a:t>Disconnected Platforms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246120" y="2578608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Legacy scheduling systems cannot track real-time agent adherence across client platforms.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166360" y="1280160"/>
            <a:ext cx="182880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760720" y="1417320"/>
            <a:ext cx="640080" cy="64008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4728" y="148132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5166360" y="21488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Arial Black"/>
                <a:ea typeface="Arial Black"/>
                <a:cs typeface="Arial Black"/>
                <a:sym typeface="Arial Black"/>
              </a:rPr>
              <a:t>Unbilled Time Leakage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257800" y="2578608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Agents hiding in unbilled statuses — client stops paying, but BPO keeps paying salaries.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178040" y="1280160"/>
            <a:ext cx="182880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772400" y="1417320"/>
            <a:ext cx="640080" cy="64008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36408" y="148132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7178040" y="21488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Arial Black"/>
                <a:ea typeface="Arial Black"/>
                <a:cs typeface="Arial Black"/>
                <a:sym typeface="Arial Black"/>
              </a:rPr>
              <a:t>Unrecoverable SLA Loss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269480" y="2578608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Undetected queue failures result in massive SLA penalties with no early warning system.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Result: Massive, unrecoverable margin loss with zero visibility.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9999398c8_0_3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d9999398c8_0_3"/>
          <p:cNvSpPr/>
          <p:nvPr/>
        </p:nvSpPr>
        <p:spPr>
          <a:xfrm>
            <a:off x="457200" y="164592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PLATFORM CAPABILITIES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d9999398c8_0_3"/>
          <p:cNvSpPr/>
          <p:nvPr/>
        </p:nvSpPr>
        <p:spPr>
          <a:xfrm>
            <a:off x="457200" y="457200"/>
            <a:ext cx="8229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 Our Platform Does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d9999398c8_0_3"/>
          <p:cNvSpPr/>
          <p:nvPr/>
        </p:nvSpPr>
        <p:spPr>
          <a:xfrm>
            <a:off x="274267" y="1336250"/>
            <a:ext cx="2011800" cy="1298400"/>
          </a:xfrm>
          <a:prstGeom prst="rect">
            <a:avLst/>
          </a:prstGeom>
          <a:solidFill>
            <a:srgbClr val="1A2F5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d9999398c8_0_3"/>
          <p:cNvSpPr/>
          <p:nvPr/>
        </p:nvSpPr>
        <p:spPr>
          <a:xfrm>
            <a:off x="274267" y="1336250"/>
            <a:ext cx="54900" cy="12984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g3d9999398c8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995" y="149169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d9999398c8_0_3"/>
          <p:cNvSpPr/>
          <p:nvPr/>
        </p:nvSpPr>
        <p:spPr>
          <a:xfrm>
            <a:off x="383995" y="1830026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 Everything. Instantly.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d9999398c8_0_3"/>
          <p:cNvSpPr/>
          <p:nvPr/>
        </p:nvSpPr>
        <p:spPr>
          <a:xfrm>
            <a:off x="383995" y="2177498"/>
            <a:ext cx="1828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Live tracking of every agent state—no delays, no blind spots.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d9999398c8_0_3"/>
          <p:cNvSpPr/>
          <p:nvPr/>
        </p:nvSpPr>
        <p:spPr>
          <a:xfrm>
            <a:off x="2468827" y="1336250"/>
            <a:ext cx="2011800" cy="1298400"/>
          </a:xfrm>
          <a:prstGeom prst="rect">
            <a:avLst/>
          </a:prstGeom>
          <a:solidFill>
            <a:srgbClr val="1A2F5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d9999398c8_0_3"/>
          <p:cNvSpPr/>
          <p:nvPr/>
        </p:nvSpPr>
        <p:spPr>
          <a:xfrm>
            <a:off x="2468827" y="1336250"/>
            <a:ext cx="54900" cy="12984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g3d9999398c8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8555" y="149169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g3d9999398c8_0_3"/>
          <p:cNvSpPr/>
          <p:nvPr/>
        </p:nvSpPr>
        <p:spPr>
          <a:xfrm>
            <a:off x="2578555" y="1830026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Stop Compliance Leakage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d9999398c8_0_3"/>
          <p:cNvSpPr/>
          <p:nvPr/>
        </p:nvSpPr>
        <p:spPr>
          <a:xfrm>
            <a:off x="2578555" y="2177498"/>
            <a:ext cx="1828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Auto-detects schedule violations the moment they happen.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d9999398c8_0_3"/>
          <p:cNvSpPr/>
          <p:nvPr/>
        </p:nvSpPr>
        <p:spPr>
          <a:xfrm>
            <a:off x="4663387" y="1336250"/>
            <a:ext cx="2011800" cy="1298400"/>
          </a:xfrm>
          <a:prstGeom prst="rect">
            <a:avLst/>
          </a:prstGeom>
          <a:solidFill>
            <a:srgbClr val="1A2F5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d9999398c8_0_3"/>
          <p:cNvSpPr/>
          <p:nvPr/>
        </p:nvSpPr>
        <p:spPr>
          <a:xfrm>
            <a:off x="4663387" y="1336250"/>
            <a:ext cx="54900" cy="12984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g3d9999398c8_0_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3115" y="149169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d9999398c8_0_3"/>
          <p:cNvSpPr/>
          <p:nvPr/>
        </p:nvSpPr>
        <p:spPr>
          <a:xfrm>
            <a:off x="4773115" y="1830026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 Problems Early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d9999398c8_0_3"/>
          <p:cNvSpPr/>
          <p:nvPr/>
        </p:nvSpPr>
        <p:spPr>
          <a:xfrm>
            <a:off x="4773115" y="2177498"/>
            <a:ext cx="1828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Flags SLA risk and staffing gaps up to an hour in advance.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d9999398c8_0_3"/>
          <p:cNvSpPr/>
          <p:nvPr/>
        </p:nvSpPr>
        <p:spPr>
          <a:xfrm>
            <a:off x="6857947" y="1336250"/>
            <a:ext cx="2011800" cy="1298400"/>
          </a:xfrm>
          <a:prstGeom prst="rect">
            <a:avLst/>
          </a:prstGeom>
          <a:solidFill>
            <a:srgbClr val="1A2F5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d9999398c8_0_3"/>
          <p:cNvSpPr/>
          <p:nvPr/>
        </p:nvSpPr>
        <p:spPr>
          <a:xfrm>
            <a:off x="6857947" y="1336250"/>
            <a:ext cx="54900" cy="12984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g3d9999398c8_0_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7675" y="149169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d9999398c8_0_3"/>
          <p:cNvSpPr/>
          <p:nvPr/>
        </p:nvSpPr>
        <p:spPr>
          <a:xfrm>
            <a:off x="6967675" y="1830026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Turn Data Into 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d9999398c8_0_3"/>
          <p:cNvSpPr/>
          <p:nvPr/>
        </p:nvSpPr>
        <p:spPr>
          <a:xfrm>
            <a:off x="6967675" y="2177498"/>
            <a:ext cx="1828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tells you exactly what to do: move staff, fix queues, protect SLAs.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d9999398c8_0_3"/>
          <p:cNvSpPr/>
          <p:nvPr/>
        </p:nvSpPr>
        <p:spPr>
          <a:xfrm>
            <a:off x="274267" y="2781002"/>
            <a:ext cx="2011800" cy="1298400"/>
          </a:xfrm>
          <a:prstGeom prst="rect">
            <a:avLst/>
          </a:prstGeom>
          <a:solidFill>
            <a:srgbClr val="1A2F5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d9999398c8_0_3"/>
          <p:cNvSpPr/>
          <p:nvPr/>
        </p:nvSpPr>
        <p:spPr>
          <a:xfrm>
            <a:off x="274267" y="2781002"/>
            <a:ext cx="54900" cy="12984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g3d9999398c8_0_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3995" y="293645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d9999398c8_0_3"/>
          <p:cNvSpPr/>
          <p:nvPr/>
        </p:nvSpPr>
        <p:spPr>
          <a:xfrm>
            <a:off x="383995" y="3274778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Never Lose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d9999398c8_0_3"/>
          <p:cNvSpPr/>
          <p:nvPr/>
        </p:nvSpPr>
        <p:spPr>
          <a:xfrm>
            <a:off x="383995" y="3622250"/>
            <a:ext cx="1828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High-volume, fault-tolerant pipeline—every event captured, always.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d9999398c8_0_3"/>
          <p:cNvSpPr/>
          <p:nvPr/>
        </p:nvSpPr>
        <p:spPr>
          <a:xfrm>
            <a:off x="2468827" y="2781002"/>
            <a:ext cx="2011800" cy="1298400"/>
          </a:xfrm>
          <a:prstGeom prst="rect">
            <a:avLst/>
          </a:prstGeom>
          <a:solidFill>
            <a:srgbClr val="1A2F5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d9999398c8_0_3"/>
          <p:cNvSpPr/>
          <p:nvPr/>
        </p:nvSpPr>
        <p:spPr>
          <a:xfrm>
            <a:off x="2468827" y="2781002"/>
            <a:ext cx="54900" cy="12984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g3d9999398c8_0_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78555" y="293645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d9999398c8_0_3"/>
          <p:cNvSpPr/>
          <p:nvPr/>
        </p:nvSpPr>
        <p:spPr>
          <a:xfrm>
            <a:off x="2578555" y="3274778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for Scale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d9999398c8_0_3"/>
          <p:cNvSpPr/>
          <p:nvPr/>
        </p:nvSpPr>
        <p:spPr>
          <a:xfrm>
            <a:off x="2578555" y="3622250"/>
            <a:ext cx="1828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Handles thousands of real-time updates per minute without slowdown.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d9999398c8_0_3"/>
          <p:cNvSpPr/>
          <p:nvPr/>
        </p:nvSpPr>
        <p:spPr>
          <a:xfrm>
            <a:off x="4663387" y="2781002"/>
            <a:ext cx="2011800" cy="1298400"/>
          </a:xfrm>
          <a:prstGeom prst="rect">
            <a:avLst/>
          </a:prstGeom>
          <a:solidFill>
            <a:srgbClr val="1A2F5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d9999398c8_0_3"/>
          <p:cNvSpPr/>
          <p:nvPr/>
        </p:nvSpPr>
        <p:spPr>
          <a:xfrm>
            <a:off x="4663387" y="2781002"/>
            <a:ext cx="54900" cy="12984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g3d9999398c8_0_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73115" y="293645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d9999398c8_0_3"/>
          <p:cNvSpPr/>
          <p:nvPr/>
        </p:nvSpPr>
        <p:spPr>
          <a:xfrm>
            <a:off x="4773115" y="3274778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Role-Based Visibility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d9999398c8_0_3"/>
          <p:cNvSpPr/>
          <p:nvPr/>
        </p:nvSpPr>
        <p:spPr>
          <a:xfrm>
            <a:off x="4773115" y="3622250"/>
            <a:ext cx="1828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Ops runs live. WFM plans ahead. Execs see ROI.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d9999398c8_0_3"/>
          <p:cNvSpPr/>
          <p:nvPr/>
        </p:nvSpPr>
        <p:spPr>
          <a:xfrm>
            <a:off x="6857947" y="2781002"/>
            <a:ext cx="2011800" cy="1298400"/>
          </a:xfrm>
          <a:prstGeom prst="rect">
            <a:avLst/>
          </a:prstGeom>
          <a:solidFill>
            <a:srgbClr val="1A2F5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d9999398c8_0_3"/>
          <p:cNvSpPr/>
          <p:nvPr/>
        </p:nvSpPr>
        <p:spPr>
          <a:xfrm>
            <a:off x="6857947" y="2781002"/>
            <a:ext cx="54900" cy="12984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g3d9999398c8_0_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67675" y="293645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d9999398c8_0_3"/>
          <p:cNvSpPr/>
          <p:nvPr/>
        </p:nvSpPr>
        <p:spPr>
          <a:xfrm>
            <a:off x="6967675" y="3274778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Privacy by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d9999398c8_0_3"/>
          <p:cNvSpPr/>
          <p:nvPr/>
        </p:nvSpPr>
        <p:spPr>
          <a:xfrm>
            <a:off x="6967675" y="3622250"/>
            <a:ext cx="1828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Zero PII. Lightweight. Secure from the ground up.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Automated Revenue Recovery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57200" y="132588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7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7FF"/>
                </a:solidFill>
                <a:latin typeface="Calibri"/>
                <a:ea typeface="Calibri"/>
                <a:cs typeface="Calibri"/>
                <a:sym typeface="Calibri"/>
              </a:rPr>
              <a:t>MarginSync is a passive, zero-API middleware that continuously tracks live agent adherence across disconnected platforms.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572000" y="1344168"/>
            <a:ext cx="594360" cy="59436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5152" y="1389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5303520" y="13258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Tracking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303520" y="1627632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Continuously monitors live agent adherence with zero API integration required.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572000" y="2350008"/>
            <a:ext cx="594360" cy="59436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5152" y="23957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5303520" y="23317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Catch Unbilled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303520" y="2633472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Automatically identifies and flags agents in unbilled statuses before revenue escapes.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572000" y="3355848"/>
            <a:ext cx="594360" cy="59436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5152" y="34015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/>
          <p:nvPr/>
        </p:nvSpPr>
        <p:spPr>
          <a:xfrm>
            <a:off x="5303520" y="33375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 Queue Failures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5303520" y="3639312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Predictive SLA alerts give Operations time to act before penalties hit.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0891B2">
              <a:alpha val="14901"/>
            </a:srgbClr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457200" y="4407408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 integration friction  ·  Real-time visibility  ·  Instant margin recovery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IMPLEMENTATION STRATEGY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14-Day Proof of Value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965960" y="1865376"/>
            <a:ext cx="576072" cy="3657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777240" y="1417320"/>
            <a:ext cx="731520" cy="73152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777240" y="14173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74320" y="2240280"/>
            <a:ext cx="1737360" cy="2514600"/>
          </a:xfrm>
          <a:prstGeom prst="rect">
            <a:avLst/>
          </a:prstGeom>
          <a:solidFill>
            <a:srgbClr val="1A2F5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274320" y="23317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Day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274320" y="262432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Passive Deploy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65760" y="306324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Zero-risk shadow audit deployed on a single 50-person team. No IT procurement. No API keys.</a:t>
            </a:r>
            <a:endParaRPr b="1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142232" y="1865376"/>
            <a:ext cx="576072" cy="3657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2953512" y="1417320"/>
            <a:ext cx="731520" cy="73152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2953512" y="14173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2450592" y="2240280"/>
            <a:ext cx="1737360" cy="2514600"/>
          </a:xfrm>
          <a:prstGeom prst="rect">
            <a:avLst/>
          </a:prstGeom>
          <a:solidFill>
            <a:srgbClr val="1A2F5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2450592" y="23317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Days 1–14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2450592" y="262432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Shadow Audit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2542032" y="306324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MarginSync runs silently, tracking all agent adherence and capturing every unbilled minute.</a:t>
            </a:r>
            <a:endParaRPr b="1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318504" y="1865376"/>
            <a:ext cx="576072" cy="3657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129784" y="1417320"/>
            <a:ext cx="731520" cy="73152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129784" y="14173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626864" y="2240280"/>
            <a:ext cx="1737360" cy="2514600"/>
          </a:xfrm>
          <a:prstGeom prst="rect">
            <a:avLst/>
          </a:prstGeom>
          <a:solidFill>
            <a:srgbClr val="1A2F5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626864" y="23317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Day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626864" y="262432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718304" y="306324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Operations VP receives a definitive Revenue Leakage Report with exact euro amounts lost.</a:t>
            </a:r>
            <a:endParaRPr b="1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7306056" y="1417320"/>
            <a:ext cx="731520" cy="73152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7306056" y="14173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803136" y="2240280"/>
            <a:ext cx="1737360" cy="2514600"/>
          </a:xfrm>
          <a:prstGeom prst="rect">
            <a:avLst/>
          </a:prstGeom>
          <a:solidFill>
            <a:srgbClr val="1A2F5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6803136" y="23317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Day 15+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803136" y="262432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Activate &amp; Recover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894576" y="306324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Real-time alerts activated. Margin share billing begins. Revenue leakage stops.</a:t>
            </a:r>
            <a:endParaRPr b="1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 bypass 9-month enterprise IT procurement cycles with zero risk to the business.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9999398c8_0_5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9999398c8_0_50"/>
          <p:cNvSpPr/>
          <p:nvPr/>
        </p:nvSpPr>
        <p:spPr>
          <a:xfrm>
            <a:off x="457200" y="164592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ROADMAP &amp; NEXT STEPS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d9999398c8_0_50"/>
          <p:cNvSpPr/>
          <p:nvPr/>
        </p:nvSpPr>
        <p:spPr>
          <a:xfrm>
            <a:off x="457200" y="457200"/>
            <a:ext cx="8229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D1B3E"/>
                </a:solidFill>
                <a:latin typeface="Arial Black"/>
                <a:ea typeface="Arial Black"/>
                <a:cs typeface="Arial Black"/>
                <a:sym typeface="Arial Black"/>
              </a:rPr>
              <a:t>From Internal Edge to B2B Standard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d9999398c8_0_50"/>
          <p:cNvSpPr/>
          <p:nvPr/>
        </p:nvSpPr>
        <p:spPr>
          <a:xfrm>
            <a:off x="374835" y="1143000"/>
            <a:ext cx="3977700" cy="32919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d9999398c8_0_50"/>
          <p:cNvSpPr/>
          <p:nvPr/>
        </p:nvSpPr>
        <p:spPr>
          <a:xfrm>
            <a:off x="365760" y="1143000"/>
            <a:ext cx="3977700" cy="3474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d9999398c8_0_50"/>
          <p:cNvSpPr/>
          <p:nvPr/>
        </p:nvSpPr>
        <p:spPr>
          <a:xfrm>
            <a:off x="365760" y="1188720"/>
            <a:ext cx="397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  ·  NOW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d9999398c8_0_50"/>
          <p:cNvSpPr/>
          <p:nvPr/>
        </p:nvSpPr>
        <p:spPr>
          <a:xfrm>
            <a:off x="2025300" y="1572768"/>
            <a:ext cx="658500" cy="65850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g3d9999398c8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8518" y="1636776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d9999398c8_0_50"/>
          <p:cNvSpPr/>
          <p:nvPr/>
        </p:nvSpPr>
        <p:spPr>
          <a:xfrm>
            <a:off x="457200" y="2331720"/>
            <a:ext cx="3794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NDRC Pre-Accelerator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d9999398c8_0_50"/>
          <p:cNvSpPr/>
          <p:nvPr/>
        </p:nvSpPr>
        <p:spPr>
          <a:xfrm>
            <a:off x="548550" y="2743200"/>
            <a:ext cx="361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are applying to the NDRC Pre-Accelerator to build our independent B2B infrastructure.</a:t>
            </a:r>
            <a:endParaRPr b="1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9999398c8_0_50"/>
          <p:cNvSpPr/>
          <p:nvPr/>
        </p:nvSpPr>
        <p:spPr>
          <a:xfrm>
            <a:off x="914400" y="3310128"/>
            <a:ext cx="2880300" cy="36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d9999398c8_0_50"/>
          <p:cNvSpPr/>
          <p:nvPr/>
        </p:nvSpPr>
        <p:spPr>
          <a:xfrm>
            <a:off x="548550" y="3401568"/>
            <a:ext cx="3612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Transition </a:t>
            </a: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proprietary extraction to native enterprise APIs</a:t>
            </a:r>
            <a:endParaRPr b="1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d9999398c8_0_50"/>
          <p:cNvSpPr/>
          <p:nvPr/>
        </p:nvSpPr>
        <p:spPr>
          <a:xfrm>
            <a:off x="548550" y="3840480"/>
            <a:ext cx="361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Lock in </a:t>
            </a: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EU/UK GDPR compliance</a:t>
            </a:r>
            <a:endParaRPr b="1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d9999398c8_0_50"/>
          <p:cNvSpPr/>
          <p:nvPr/>
        </p:nvSpPr>
        <p:spPr>
          <a:xfrm>
            <a:off x="4754880" y="1143000"/>
            <a:ext cx="39777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d9999398c8_0_50"/>
          <p:cNvSpPr/>
          <p:nvPr/>
        </p:nvSpPr>
        <p:spPr>
          <a:xfrm>
            <a:off x="4754880" y="1143000"/>
            <a:ext cx="3977700" cy="3474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9999398c8_0_50"/>
          <p:cNvSpPr/>
          <p:nvPr/>
        </p:nvSpPr>
        <p:spPr>
          <a:xfrm>
            <a:off x="4754880" y="1188720"/>
            <a:ext cx="397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PHASE 2  ·  POST-ACCELERATOR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d9999398c8_0_50"/>
          <p:cNvSpPr/>
          <p:nvPr/>
        </p:nvSpPr>
        <p:spPr>
          <a:xfrm>
            <a:off x="6414420" y="1572768"/>
            <a:ext cx="658500" cy="65850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g3d9999398c8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7638" y="1636776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d9999398c8_0_50"/>
          <p:cNvSpPr/>
          <p:nvPr/>
        </p:nvSpPr>
        <p:spPr>
          <a:xfrm>
            <a:off x="4846320" y="2331720"/>
            <a:ext cx="3794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0D1B3E"/>
                </a:solidFill>
                <a:latin typeface="Arial Black"/>
                <a:ea typeface="Arial Black"/>
                <a:cs typeface="Arial Black"/>
                <a:sym typeface="Arial Black"/>
              </a:rPr>
              <a:t>UKI External Rollout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d9999398c8_0_50"/>
          <p:cNvSpPr/>
          <p:nvPr/>
        </p:nvSpPr>
        <p:spPr>
          <a:xfrm>
            <a:off x="4937670" y="2743200"/>
            <a:ext cx="361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Armed with validated internal data and NDRC backing, we target the UK &amp; Ireland BPO market.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d9999398c8_0_50"/>
          <p:cNvSpPr/>
          <p:nvPr/>
        </p:nvSpPr>
        <p:spPr>
          <a:xfrm>
            <a:off x="5303520" y="3310128"/>
            <a:ext cx="2880300" cy="366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9999398c8_0_50"/>
          <p:cNvSpPr/>
          <p:nvPr/>
        </p:nvSpPr>
        <p:spPr>
          <a:xfrm>
            <a:off x="4937670" y="3401568"/>
            <a:ext cx="3612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Secure </a:t>
            </a: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first 3 external BPO pilots</a:t>
            </a: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in the UK and Ireland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d9999398c8_0_50"/>
          <p:cNvSpPr/>
          <p:nvPr/>
        </p:nvSpPr>
        <p:spPr>
          <a:xfrm>
            <a:off x="4937670" y="3840480"/>
            <a:ext cx="361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Capture </a:t>
            </a: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first independent market revenue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d9999398c8_0_50"/>
          <p:cNvSpPr/>
          <p:nvPr/>
        </p:nvSpPr>
        <p:spPr>
          <a:xfrm>
            <a:off x="4352544" y="2715768"/>
            <a:ext cx="402300" cy="36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9999398c8_0_50"/>
          <p:cNvSpPr/>
          <p:nvPr/>
        </p:nvSpPr>
        <p:spPr>
          <a:xfrm>
            <a:off x="4315968" y="2542032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THE TEAM &amp; THE ASK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Domain Experts Fixing a Lived Problem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MarginSync is built by BPO insiders who experienced this visibility gap on the floor and managed its commercial fallout in analytics.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02863" y="2176203"/>
            <a:ext cx="2469000" cy="1463100"/>
          </a:xfrm>
          <a:prstGeom prst="rect">
            <a:avLst/>
          </a:prstGeom>
          <a:solidFill>
            <a:srgbClr val="1A2F5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1417263" y="2221923"/>
            <a:ext cx="640200" cy="64020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502863" y="2953443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Lakshay Kapur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02863" y="3291771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Big Data </a:t>
            </a:r>
            <a:r>
              <a:rPr lang="en-US" sz="11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r>
              <a:rPr lang="en-US" sz="11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b="0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GTM &amp; BPO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3337503" y="2176203"/>
            <a:ext cx="2469000" cy="1463100"/>
          </a:xfrm>
          <a:prstGeom prst="rect">
            <a:avLst/>
          </a:prstGeom>
          <a:solidFill>
            <a:srgbClr val="1A2F5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251903" y="2221923"/>
            <a:ext cx="640200" cy="64020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3337503" y="2953443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Sarthak Misal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337503" y="3291771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Strategy </a:t>
            </a:r>
            <a:r>
              <a:rPr b="0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&amp; Operations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172143" y="2176203"/>
            <a:ext cx="2469000" cy="1463100"/>
          </a:xfrm>
          <a:prstGeom prst="rect">
            <a:avLst/>
          </a:prstGeom>
          <a:solidFill>
            <a:srgbClr val="1A2F5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7086543" y="2221923"/>
            <a:ext cx="640200" cy="64020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6172143" y="2953443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Ujwal Mojidra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6172143" y="3291771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Data Analytics &amp; Research AI Agents Developer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731520" y="363931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MarginSync  ·  Stopping the BPO Margin Bleed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407112" y="2213438"/>
            <a:ext cx="667250" cy="6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1900" y="2212771"/>
            <a:ext cx="640075" cy="64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9537" y="2212788"/>
            <a:ext cx="667250" cy="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2026-04-27T11:22:47Z</dcterms:created>
  <dc:creator>PptxGenJS</dc:creator>
</cp:coreProperties>
</file>